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08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6263640" cy="6565392"/>
          </a:xfrm>
          <a:prstGeom prst="rect">
            <a:avLst/>
          </a:prstGeom>
          <a:solidFill>
            <a:srgbClr val="0C2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5394960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Real-Time AI-Based</a:t>
            </a:r>
          </a:p>
          <a:p>
            <a:pPr>
              <a:defRPr sz="4200" b="1">
                <a:solidFill>
                  <a:srgbClr val="FFD5B8"/>
                </a:solidFill>
              </a:defRPr>
            </a:pPr>
            <a:r>
              <a:t>Suspicious Activity</a:t>
            </a:r>
            <a:br/>
            <a:r>
              <a:t>Detection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3291840"/>
            <a:ext cx="5120640" cy="2103120"/>
          </a:xfrm>
          <a:prstGeom prst="roundRect">
            <a:avLst/>
          </a:prstGeom>
          <a:solidFill>
            <a:srgbClr val="153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900" b="1">
                <a:solidFill>
                  <a:srgbClr val="FFFFFF"/>
                </a:solidFill>
              </a:defRPr>
            </a:pPr>
            <a:r>
              <a:t>Presented by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Apoorv Jadav (CE-095) | 24CEUBS906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Ronak Maniya (CE-036) | 23CEUOG085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Guide: Prof. Hariom A. Pandya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</a:defRPr>
            </a:pPr>
            <a:r>
              <a:t>Dharmsinh Desai University, Faculty of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987552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C254B"/>
                </a:solidFill>
              </a:defRPr>
            </a:pPr>
            <a:r>
              <a:t>Project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828800"/>
            <a:ext cx="44805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nut 7"/>
          <p:cNvSpPr/>
          <p:nvPr/>
        </p:nvSpPr>
        <p:spPr>
          <a:xfrm>
            <a:off x="7818120" y="2606040"/>
            <a:ext cx="1554480" cy="1554480"/>
          </a:xfrm>
          <a:prstGeom prst="donut">
            <a:avLst/>
          </a:prstGeom>
          <a:solidFill>
            <a:srgbClr val="E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nut 8"/>
          <p:cNvSpPr/>
          <p:nvPr/>
        </p:nvSpPr>
        <p:spPr>
          <a:xfrm>
            <a:off x="8366760" y="2852928"/>
            <a:ext cx="1554480" cy="1554480"/>
          </a:xfrm>
          <a:prstGeom prst="donut">
            <a:avLst/>
          </a:prstGeom>
          <a:solidFill>
            <a:srgbClr val="FFE9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nut 9"/>
          <p:cNvSpPr/>
          <p:nvPr/>
        </p:nvSpPr>
        <p:spPr>
          <a:xfrm>
            <a:off x="8915400" y="3099816"/>
            <a:ext cx="1554480" cy="1554480"/>
          </a:xfrm>
          <a:prstGeom prst="donut">
            <a:avLst/>
          </a:prstGeom>
          <a:solidFill>
            <a:srgbClr val="D6E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4709160"/>
            <a:ext cx="3611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C254B"/>
                </a:solidFill>
              </a:defRPr>
            </a:pPr>
            <a:r>
              <a:t>AI Surveillance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C254B"/>
                </a:solidFill>
              </a:defRPr>
            </a:pPr>
            <a:r>
              <a:t>B.Tech Computer Engineering - Semester 6 - SDP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08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54B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6128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A7B"/>
                </a:solidFill>
              </a:defRPr>
            </a:pPr>
            <a:r>
              <a:t>Why this project is necessary</a:t>
            </a:r>
          </a:p>
        </p:txBody>
      </p:sp>
      <p:sp>
        <p:nvSpPr>
          <p:cNvPr id="5" name="Oval 4"/>
          <p:cNvSpPr/>
          <p:nvPr/>
        </p:nvSpPr>
        <p:spPr>
          <a:xfrm>
            <a:off x="749808" y="1828800"/>
            <a:ext cx="420624" cy="420624"/>
          </a:xfrm>
          <a:prstGeom prst="ellipse">
            <a:avLst/>
          </a:prstGeom>
          <a:solidFill>
            <a:srgbClr val="ED7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34440" y="1737360"/>
            <a:ext cx="1019556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l">
              <a:defRPr sz="2100">
                <a:solidFill>
                  <a:srgbClr val="1C2434"/>
                </a:solidFill>
              </a:defRPr>
            </a:pPr>
            <a:r>
              <a:t>Manual CCTV monitoring is difficult and error-prone for continuous surveillance.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15768"/>
            <a:ext cx="420624" cy="420624"/>
          </a:xfrm>
          <a:prstGeom prst="ellipse">
            <a:avLst/>
          </a:prstGeom>
          <a:solidFill>
            <a:srgbClr val="ED7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2624328"/>
            <a:ext cx="1019556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l">
              <a:defRPr sz="2100">
                <a:solidFill>
                  <a:srgbClr val="1C2434"/>
                </a:solidFill>
              </a:defRPr>
            </a:pPr>
            <a:r>
              <a:t>Suspicious incidents are often detected late during post-event review.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02736"/>
            <a:ext cx="420624" cy="420624"/>
          </a:xfrm>
          <a:prstGeom prst="ellipse">
            <a:avLst/>
          </a:prstGeom>
          <a:solidFill>
            <a:srgbClr val="ED7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3511296"/>
            <a:ext cx="1019556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l">
              <a:defRPr sz="2100">
                <a:solidFill>
                  <a:srgbClr val="1C2434"/>
                </a:solidFill>
              </a:defRPr>
            </a:pPr>
            <a:r>
              <a:t>Human operators face fatigue and cannot monitor multiple feeds reliably.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489703"/>
            <a:ext cx="420624" cy="420624"/>
          </a:xfrm>
          <a:prstGeom prst="ellipse">
            <a:avLst/>
          </a:prstGeom>
          <a:solidFill>
            <a:srgbClr val="ED7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34440" y="4398264"/>
            <a:ext cx="1019556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l">
              <a:defRPr sz="2100">
                <a:solidFill>
                  <a:srgbClr val="1C2434"/>
                </a:solidFill>
              </a:defRPr>
            </a:pPr>
            <a:r>
              <a:t>A real-time, automated, and scalable monitoring solution is required.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376671"/>
            <a:ext cx="420624" cy="420624"/>
          </a:xfrm>
          <a:prstGeom prst="ellipse">
            <a:avLst/>
          </a:prstGeom>
          <a:solidFill>
            <a:srgbClr val="ED7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" y="5285231"/>
            <a:ext cx="1019556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l">
              <a:defRPr sz="2100">
                <a:solidFill>
                  <a:srgbClr val="1C2434"/>
                </a:solidFill>
              </a:defRPr>
            </a:pPr>
            <a:r>
              <a:t>Goal: detect humans and classify activity as Normal or Suspicious instantly.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C254B"/>
                </a:solidFill>
              </a:defRPr>
            </a:pPr>
            <a:r>
              <a:t>System Design Practice (SDP) - Group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08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54B"/>
                </a:solidFill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6128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A7B"/>
                </a:solidFill>
              </a:defRPr>
            </a:pPr>
            <a:r>
              <a:t>Dual-model intelligence with full-stack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54406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b="1" sz="2000">
                <a:solidFill>
                  <a:srgbClr val="0C254B"/>
                </a:solidFill>
              </a:defRPr>
            </a:pPr>
            <a:r>
              <a:t>AI Core</a:t>
            </a:r>
          </a:p>
          <a:p>
            <a:pPr>
              <a:defRPr sz="1500">
                <a:solidFill>
                  <a:srgbClr val="1C2434"/>
                </a:solidFill>
              </a:defRPr>
            </a:pPr>
            <a:r>
              <a:t>YOLOv8 detects persons and SlowFast-R101 classifies activity from temporal frame windows.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737360"/>
            <a:ext cx="539496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b="1" sz="2000">
                <a:solidFill>
                  <a:srgbClr val="0C254B"/>
                </a:solidFill>
              </a:defRPr>
            </a:pPr>
            <a:r>
              <a:t>Web Platform</a:t>
            </a:r>
          </a:p>
          <a:p>
            <a:pPr>
              <a:defRPr sz="1500">
                <a:solidFill>
                  <a:srgbClr val="1C2434"/>
                </a:solidFill>
              </a:defRPr>
            </a:pPr>
            <a:r>
              <a:t>React frontend + Django REST backend provide live monitoring, analytics, upload analysis, and history.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977639"/>
            <a:ext cx="544068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b="1" sz="2000">
                <a:solidFill>
                  <a:srgbClr val="0C254B"/>
                </a:solidFill>
              </a:defRPr>
            </a:pPr>
            <a:r>
              <a:t>Optimization</a:t>
            </a:r>
          </a:p>
          <a:p>
            <a:pPr>
              <a:defRPr sz="1500">
                <a:solidFill>
                  <a:srgbClr val="1C2434"/>
                </a:solidFill>
              </a:defRPr>
            </a:pPr>
            <a:r>
              <a:t>Frame skipping, classifier cooldown, and smoothing deliver stable labels with low latency.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3977639"/>
            <a:ext cx="539496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b="1" sz="2000">
                <a:solidFill>
                  <a:srgbClr val="0C254B"/>
                </a:solidFill>
              </a:defRPr>
            </a:pPr>
            <a:r>
              <a:t>Outcome</a:t>
            </a:r>
          </a:p>
          <a:p>
            <a:pPr>
              <a:defRPr sz="1500">
                <a:solidFill>
                  <a:srgbClr val="1C2434"/>
                </a:solidFill>
              </a:defRPr>
            </a:pPr>
            <a:r>
              <a:t>Real-time suspicious-activity alerts with event logs and downloadable annotated recordings.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C254B"/>
                </a:solidFill>
              </a:defRPr>
            </a:pPr>
            <a:r>
              <a:t>System Design Practice (SDP) - Group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08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54B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6128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A7B"/>
                </a:solidFill>
              </a:defRPr>
            </a:pPr>
            <a:r>
              <a:t>Input -&gt; Processing -&gt;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27632"/>
            <a:ext cx="790956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iagram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242" y="1719072"/>
            <a:ext cx="5501235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732520" y="1783080"/>
            <a:ext cx="278892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b="1" sz="1500">
                <a:solidFill>
                  <a:srgbClr val="0C254B"/>
                </a:solidFill>
              </a:defRPr>
            </a:pPr>
            <a:r>
              <a:t>Frontend</a:t>
            </a:r>
          </a:p>
          <a:p>
            <a:pPr>
              <a:defRPr sz="1300">
                <a:solidFill>
                  <a:srgbClr val="1C2434"/>
                </a:solidFill>
              </a:defRPr>
            </a:pPr>
            <a:r>
              <a:t>Captures webcam frames and video uploads.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2926080"/>
            <a:ext cx="278892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b="1" sz="1500">
                <a:solidFill>
                  <a:srgbClr val="0C254B"/>
                </a:solidFill>
              </a:defRPr>
            </a:pPr>
            <a:r>
              <a:t>Backend</a:t>
            </a:r>
          </a:p>
          <a:p>
            <a:pPr>
              <a:defRPr sz="1300">
                <a:solidFill>
                  <a:srgbClr val="1C2434"/>
                </a:solidFill>
              </a:defRPr>
            </a:pPr>
            <a:r>
              <a:t>Routes requests to AI engine and storage.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4069080"/>
            <a:ext cx="278892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b="1" sz="1500">
                <a:solidFill>
                  <a:srgbClr val="0C254B"/>
                </a:solidFill>
              </a:defRPr>
            </a:pPr>
            <a:r>
              <a:t>AI + DB</a:t>
            </a:r>
          </a:p>
          <a:p>
            <a:pPr>
              <a:defRPr sz="1300">
                <a:solidFill>
                  <a:srgbClr val="1C2434"/>
                </a:solidFill>
              </a:defRPr>
            </a:pPr>
            <a:r>
              <a:t>Detection/classification and persistent event records.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C254B"/>
                </a:solidFill>
              </a:defRPr>
            </a:pPr>
            <a:r>
              <a:t>System Design Practice (SDP) - Group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08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54B"/>
                </a:solidFill>
              </a:defRPr>
            </a:pPr>
            <a:r>
              <a:t>Technologies Used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9270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429000"/>
                <a:gridCol w="539496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C25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0C25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C254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C2434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C2434"/>
                          </a:solidFill>
                        </a:defRPr>
                      </a:pPr>
                      <a:r>
                        <a:t>React 18 + Vite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C2434"/>
                          </a:solidFill>
                        </a:defRPr>
                      </a:pPr>
                      <a:r>
                        <a:t>Real-time dashboard and monitoring UI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C2434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C2434"/>
                          </a:solidFill>
                        </a:defRPr>
                      </a:pPr>
                      <a:r>
                        <a:t>Django 4.2 + DRF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C2434"/>
                          </a:solidFill>
                        </a:defRPr>
                      </a:pPr>
                      <a:r>
                        <a:t>REST API and business logic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C2434"/>
                          </a:solidFill>
                        </a:defRPr>
                      </a:pPr>
                      <a:r>
                        <a:t>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C2434"/>
                          </a:solidFill>
                        </a:defRPr>
                      </a:pPr>
                      <a:r>
                        <a:t>YOLOv8 (Ultralytics)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C2434"/>
                          </a:solidFill>
                        </a:defRPr>
                      </a:pPr>
                      <a:r>
                        <a:t>Human detection with bounding boxes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C2434"/>
                          </a:solidFill>
                        </a:defRPr>
                      </a:pPr>
                      <a:r>
                        <a:t>Classification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C2434"/>
                          </a:solidFill>
                        </a:defRPr>
                      </a:pPr>
                      <a:r>
                        <a:t>SlowFast-R101 (PyTorchVideo)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C2434"/>
                          </a:solidFill>
                        </a:defRPr>
                      </a:pPr>
                      <a:r>
                        <a:t>Normal vs Suspicious activity classification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C2434"/>
                          </a:solidFill>
                        </a:defRPr>
                      </a:pPr>
                      <a:r>
                        <a:t>Video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C2434"/>
                          </a:solidFill>
                        </a:defRPr>
                      </a:pPr>
                      <a:r>
                        <a:t>OpenCV + FFmpeg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C2434"/>
                          </a:solidFill>
                        </a:defRPr>
                      </a:pPr>
                      <a:r>
                        <a:t>Frame extraction, annotation, encoding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C2434"/>
                          </a:solidFill>
                        </a:defRPr>
                      </a:pPr>
                      <a:r>
                        <a:t>Deployment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C2434"/>
                          </a:solidFill>
                        </a:defRPr>
                      </a:pPr>
                      <a:r>
                        <a:t>Docker + Nginx + Gunicorn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C2434"/>
                          </a:solidFill>
                        </a:defRPr>
                      </a:pPr>
                      <a:r>
                        <a:t>Containerized full-stack deployment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C254B"/>
                </a:solidFill>
              </a:defRPr>
            </a:pPr>
            <a:r>
              <a:t>System Design Practice (SDP) - Group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08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54B"/>
                </a:solidFill>
              </a:defRPr>
            </a:pPr>
            <a:r>
              <a:t>Working /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6128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A7B"/>
                </a:solidFill>
              </a:defRPr>
            </a:pPr>
            <a:r>
              <a:t>End-to-end detection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64208"/>
            <a:ext cx="64465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iagram_ai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982" y="1764792"/>
            <a:ext cx="4710154" cy="432511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7452360" y="1810512"/>
            <a:ext cx="420624" cy="420624"/>
          </a:xfrm>
          <a:prstGeom prst="ellipse">
            <a:avLst/>
          </a:prstGeom>
          <a:solidFill>
            <a:srgbClr val="ED7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783080"/>
            <a:ext cx="36576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sz="1400">
                <a:solidFill>
                  <a:srgbClr val="1C2434"/>
                </a:solidFill>
              </a:defRPr>
            </a:pPr>
            <a:r>
              <a:t>Capture frame from webcam or uploaded video.</a:t>
            </a:r>
          </a:p>
        </p:txBody>
      </p:sp>
      <p:sp>
        <p:nvSpPr>
          <p:cNvPr id="9" name="Oval 8"/>
          <p:cNvSpPr/>
          <p:nvPr/>
        </p:nvSpPr>
        <p:spPr>
          <a:xfrm>
            <a:off x="7452360" y="2532888"/>
            <a:ext cx="420624" cy="420624"/>
          </a:xfrm>
          <a:prstGeom prst="ellipse">
            <a:avLst/>
          </a:prstGeom>
          <a:solidFill>
            <a:srgbClr val="ED7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2505456"/>
            <a:ext cx="36576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sz="1400">
                <a:solidFill>
                  <a:srgbClr val="1C2434"/>
                </a:solidFill>
              </a:defRPr>
            </a:pPr>
            <a:r>
              <a:t>Run YOLO detection with frame-skipping optimization.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7452360" y="3255264"/>
            <a:ext cx="420624" cy="420624"/>
          </a:xfrm>
          <a:prstGeom prst="ellipse">
            <a:avLst/>
          </a:prstGeom>
          <a:solidFill>
            <a:srgbClr val="ED7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3227832"/>
            <a:ext cx="36576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sz="1400">
                <a:solidFill>
                  <a:srgbClr val="1C2434"/>
                </a:solidFill>
              </a:defRPr>
            </a:pPr>
            <a:r>
              <a:t>Build person-wise temporal frame windows.</a:t>
            </a:r>
          </a:p>
        </p:txBody>
      </p:sp>
      <p:sp>
        <p:nvSpPr>
          <p:cNvPr id="13" name="Oval 12"/>
          <p:cNvSpPr/>
          <p:nvPr/>
        </p:nvSpPr>
        <p:spPr>
          <a:xfrm>
            <a:off x="7452360" y="3977640"/>
            <a:ext cx="420624" cy="420624"/>
          </a:xfrm>
          <a:prstGeom prst="ellipse">
            <a:avLst/>
          </a:prstGeom>
          <a:solidFill>
            <a:srgbClr val="ED7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3950208"/>
            <a:ext cx="36576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sz="1400">
                <a:solidFill>
                  <a:srgbClr val="1C2434"/>
                </a:solidFill>
              </a:defRPr>
            </a:pPr>
            <a:r>
              <a:t>Run SlowFast classification after enough frames.</a:t>
            </a:r>
          </a:p>
        </p:txBody>
      </p:sp>
      <p:sp>
        <p:nvSpPr>
          <p:cNvPr id="15" name="Oval 14"/>
          <p:cNvSpPr/>
          <p:nvPr/>
        </p:nvSpPr>
        <p:spPr>
          <a:xfrm>
            <a:off x="7452360" y="4700016"/>
            <a:ext cx="420624" cy="420624"/>
          </a:xfrm>
          <a:prstGeom prst="ellipse">
            <a:avLst/>
          </a:prstGeom>
          <a:solidFill>
            <a:srgbClr val="ED7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4672584"/>
            <a:ext cx="36576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sz="1400">
                <a:solidFill>
                  <a:srgbClr val="1C2434"/>
                </a:solidFill>
              </a:defRPr>
            </a:pPr>
            <a:r>
              <a:t>Apply temporal smoothing for stable labels.</a:t>
            </a:r>
          </a:p>
        </p:txBody>
      </p:sp>
      <p:sp>
        <p:nvSpPr>
          <p:cNvPr id="17" name="Oval 16"/>
          <p:cNvSpPr/>
          <p:nvPr/>
        </p:nvSpPr>
        <p:spPr>
          <a:xfrm>
            <a:off x="7452360" y="5422392"/>
            <a:ext cx="420624" cy="420624"/>
          </a:xfrm>
          <a:prstGeom prst="ellipse">
            <a:avLst/>
          </a:prstGeom>
          <a:solidFill>
            <a:srgbClr val="ED7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5394960"/>
            <a:ext cx="36576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sz="1400">
                <a:solidFill>
                  <a:srgbClr val="1C2434"/>
                </a:solidFill>
              </a:defRPr>
            </a:pPr>
            <a:r>
              <a:t>Store events and processed recordings.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C254B"/>
                </a:solidFill>
              </a:defRPr>
            </a:pPr>
            <a:r>
              <a:t>System Design Practice (SDP) - Group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08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54B"/>
                </a:solidFill>
              </a:defRPr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0352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b="1" sz="2000">
                <a:solidFill>
                  <a:srgbClr val="0C254B"/>
                </a:solidFill>
              </a:defRPr>
            </a:pPr>
            <a:r>
              <a:t>Feature 1</a:t>
            </a:r>
          </a:p>
          <a:p>
            <a:pPr>
              <a:defRPr sz="1700">
                <a:solidFill>
                  <a:srgbClr val="1C2434"/>
                </a:solidFill>
              </a:defRPr>
            </a:pPr>
            <a:r>
              <a:t>Live monitoring with AI overlays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554480"/>
            <a:ext cx="530352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b="1" sz="2000">
                <a:solidFill>
                  <a:srgbClr val="0C254B"/>
                </a:solidFill>
              </a:defRPr>
            </a:pPr>
            <a:r>
              <a:t>Feature 2</a:t>
            </a:r>
          </a:p>
          <a:p>
            <a:pPr>
              <a:defRPr sz="1700">
                <a:solidFill>
                  <a:srgbClr val="1C2434"/>
                </a:solidFill>
              </a:defRPr>
            </a:pPr>
            <a:r>
              <a:t>Dual-model activity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530352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b="1" sz="2000">
                <a:solidFill>
                  <a:srgbClr val="0C254B"/>
                </a:solidFill>
              </a:defRPr>
            </a:pPr>
            <a:r>
              <a:t>Feature 3</a:t>
            </a:r>
          </a:p>
          <a:p>
            <a:pPr>
              <a:defRPr sz="1700">
                <a:solidFill>
                  <a:srgbClr val="1C2434"/>
                </a:solidFill>
              </a:defRPr>
            </a:pPr>
            <a:r>
              <a:t>Color alerts for suspicious events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154680"/>
            <a:ext cx="530352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b="1" sz="2000">
                <a:solidFill>
                  <a:srgbClr val="0C254B"/>
                </a:solidFill>
              </a:defRPr>
            </a:pPr>
            <a:r>
              <a:t>Feature 4</a:t>
            </a:r>
          </a:p>
          <a:p>
            <a:pPr>
              <a:defRPr sz="1700">
                <a:solidFill>
                  <a:srgbClr val="1C2434"/>
                </a:solidFill>
              </a:defRPr>
            </a:pPr>
            <a:r>
              <a:t>Offline video upload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530352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b="1" sz="2000">
                <a:solidFill>
                  <a:srgbClr val="0C254B"/>
                </a:solidFill>
              </a:defRPr>
            </a:pPr>
            <a:r>
              <a:t>Feature 5</a:t>
            </a:r>
          </a:p>
          <a:p>
            <a:pPr>
              <a:defRPr sz="1700">
                <a:solidFill>
                  <a:srgbClr val="1C2434"/>
                </a:solidFill>
              </a:defRPr>
            </a:pPr>
            <a:r>
              <a:t>Event history with confidence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754880"/>
            <a:ext cx="530352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b="1" sz="2000">
                <a:solidFill>
                  <a:srgbClr val="0C254B"/>
                </a:solidFill>
              </a:defRPr>
            </a:pPr>
            <a:r>
              <a:t>Feature 6</a:t>
            </a:r>
          </a:p>
          <a:p>
            <a:pPr>
              <a:defRPr sz="1700">
                <a:solidFill>
                  <a:srgbClr val="1C2434"/>
                </a:solidFill>
              </a:defRPr>
            </a:pPr>
            <a:r>
              <a:t>Annotated MP4 storage/download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C254B"/>
                </a:solidFill>
              </a:defRPr>
            </a:pPr>
            <a:r>
              <a:t>System Design Practice (SDP) - Group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08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54B"/>
                </a:solidFill>
              </a:defRPr>
            </a:pPr>
            <a:r>
              <a:t>Screenshots / UI Demo (1/3)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6128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A7B"/>
                </a:solidFill>
              </a:defRPr>
            </a:pPr>
            <a:r>
              <a:t>2 screenshots per slide for clear PDF readability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21208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s_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642141"/>
            <a:ext cx="4992624" cy="24058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5840" y="5925312"/>
            <a:ext cx="4846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C254B"/>
                </a:solidFill>
              </a:defRPr>
            </a:pPr>
            <a:r>
              <a:t>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83080"/>
            <a:ext cx="521208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s_live_monito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579733"/>
            <a:ext cx="4992624" cy="25306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5925312"/>
            <a:ext cx="4846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C254B"/>
                </a:solidFill>
              </a:defRPr>
            </a:pPr>
            <a:r>
              <a:t>Live Monitor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C254B"/>
                </a:solidFill>
              </a:defRPr>
            </a:pPr>
            <a:r>
              <a:t>System Design Practice (SDP) - Group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08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54B"/>
                </a:solidFill>
              </a:defRPr>
            </a:pPr>
            <a:r>
              <a:t>Screenshots / UI Demo (2/3)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6128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A7B"/>
                </a:solidFill>
              </a:defRPr>
            </a:pPr>
            <a:r>
              <a:t>2 screenshots per slide for clear PDF readability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21208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s_video_uplo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585974"/>
            <a:ext cx="4992624" cy="25181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5840" y="5925312"/>
            <a:ext cx="4846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C254B"/>
                </a:solidFill>
              </a:defRPr>
            </a:pPr>
            <a:r>
              <a:t>Video Upload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83080"/>
            <a:ext cx="521208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s_recordings_li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579733"/>
            <a:ext cx="4992624" cy="25306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5925312"/>
            <a:ext cx="4846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C254B"/>
                </a:solidFill>
              </a:defRPr>
            </a:pPr>
            <a:r>
              <a:t>Recordings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C254B"/>
                </a:solidFill>
              </a:defRPr>
            </a:pPr>
            <a:r>
              <a:t>System Design Practice (SDP) - Group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08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54B"/>
                </a:solidFill>
              </a:defRPr>
            </a:pPr>
            <a:r>
              <a:t>Screenshots / UI Demo (3/3)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6128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A7B"/>
                </a:solidFill>
              </a:defRPr>
            </a:pPr>
            <a:r>
              <a:t>2 screenshots per slide for clear PDF readability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21208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s_live_suspiciou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645262"/>
            <a:ext cx="4992624" cy="23995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5840" y="5925312"/>
            <a:ext cx="4846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C254B"/>
                </a:solidFill>
              </a:defRPr>
            </a:pPr>
            <a:r>
              <a:t>Suspicious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83080"/>
            <a:ext cx="521208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s_upload_resul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660863"/>
            <a:ext cx="4992624" cy="2368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5925312"/>
            <a:ext cx="4846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C254B"/>
                </a:solidFill>
              </a:defRPr>
            </a:pPr>
            <a:r>
              <a:t>Upload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C254B"/>
                </a:solidFill>
              </a:defRPr>
            </a:pPr>
            <a:r>
              <a:t>System Design Practice (SDP) - Group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08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54B"/>
                </a:solidFill>
              </a:defRPr>
            </a:pPr>
            <a:r>
              <a:t>Results /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83080"/>
            <a:ext cx="370332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b="1" sz="1900">
                <a:solidFill>
                  <a:srgbClr val="0C254B"/>
                </a:solidFill>
              </a:defRPr>
            </a:pPr>
            <a:r>
              <a:t>Detection Output</a:t>
            </a:r>
          </a:p>
          <a:p>
            <a:pPr>
              <a:defRPr sz="1500">
                <a:solidFill>
                  <a:srgbClr val="1C2434"/>
                </a:solidFill>
              </a:defRPr>
            </a:pPr>
            <a:r>
              <a:t>Per person: bounding box, label, confidence, timestamp.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783080"/>
            <a:ext cx="361188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b="1" sz="1900">
                <a:solidFill>
                  <a:srgbClr val="0C254B"/>
                </a:solidFill>
              </a:defRPr>
            </a:pPr>
            <a:r>
              <a:t>Processing</a:t>
            </a:r>
          </a:p>
          <a:p>
            <a:pPr>
              <a:defRPr sz="1500">
                <a:solidFill>
                  <a:srgbClr val="1C2434"/>
                </a:solidFill>
              </a:defRPr>
            </a:pPr>
            <a:r>
              <a:t>Target 24 FPS with optimization in live mode.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783080"/>
            <a:ext cx="329184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b="1" sz="1900">
                <a:solidFill>
                  <a:srgbClr val="0C254B"/>
                </a:solidFill>
              </a:defRPr>
            </a:pPr>
            <a:r>
              <a:t>Latency</a:t>
            </a:r>
          </a:p>
          <a:p>
            <a:pPr>
              <a:defRPr sz="1500">
                <a:solidFill>
                  <a:srgbClr val="1C2434"/>
                </a:solidFill>
              </a:defRPr>
            </a:pPr>
            <a:r>
              <a:t>Detection delay target &lt;= 1.5 s, API response &lt; 500 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931920"/>
            <a:ext cx="676656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b="1" sz="1800">
                <a:solidFill>
                  <a:srgbClr val="0C254B"/>
                </a:solidFill>
              </a:defRPr>
            </a:pPr>
            <a:r>
              <a:t>Performance Summary</a:t>
            </a:r>
          </a:p>
          <a:p>
            <a:pPr>
              <a:defRPr sz="1500">
                <a:solidFill>
                  <a:srgbClr val="1C2434"/>
                </a:solidFill>
              </a:defRPr>
            </a:pPr>
            <a:r>
              <a:t>YOLO detection target &gt;= 95%</a:t>
            </a:r>
            <a:br/>
            <a:r>
              <a:t>Binary activity classification target &gt;= 90%</a:t>
            </a:r>
            <a:br/>
            <a:r>
              <a:t>Stable alerts after smoothing and cooldown logic.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3931920"/>
            <a:ext cx="384048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b="1" sz="1800">
                <a:solidFill>
                  <a:srgbClr val="0C254B"/>
                </a:solidFill>
              </a:defRPr>
            </a:pPr>
            <a:r>
              <a:t>Sample Response</a:t>
            </a:r>
          </a:p>
          <a:p>
            <a:pPr>
              <a:defRPr sz="1400">
                <a:solidFill>
                  <a:srgbClr val="1C2434"/>
                </a:solidFill>
              </a:defRPr>
            </a:pPr>
            <a:r>
              <a:t>detections:[bbox, confidence, activity_label]</a:t>
            </a:r>
            <a:br/>
            <a:r>
              <a:t>frame_number</a:t>
            </a:r>
            <a:br/>
            <a:r>
              <a:t>timestamp</a:t>
            </a:r>
            <a:br/>
            <a:r>
              <a:t>status for UI rendering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C254B"/>
                </a:solidFill>
              </a:defRPr>
            </a:pPr>
            <a:r>
              <a:t>System Design Practice (SDP) - Group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08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54B"/>
                </a:solidFill>
              </a:defRPr>
            </a:pPr>
            <a:r>
              <a:t>Challenges Faced and 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83080"/>
            <a:ext cx="539496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b="1" sz="2100">
                <a:solidFill>
                  <a:srgbClr val="0C254B"/>
                </a:solidFill>
              </a:defRPr>
            </a:pPr>
            <a:r>
              <a:t>Challenge 1</a:t>
            </a:r>
          </a:p>
          <a:p>
            <a:pPr>
              <a:defRPr sz="1700">
                <a:solidFill>
                  <a:srgbClr val="1C2434"/>
                </a:solidFill>
              </a:defRPr>
            </a:pPr>
            <a:r>
              <a:t>Balancing high accuracy with real-time processing speed.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783080"/>
            <a:ext cx="534924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b="1" sz="2100">
                <a:solidFill>
                  <a:srgbClr val="0C254B"/>
                </a:solidFill>
              </a:defRPr>
            </a:pPr>
            <a:r>
              <a:t>Solution</a:t>
            </a:r>
          </a:p>
          <a:p>
            <a:pPr>
              <a:defRPr sz="1700">
                <a:solidFill>
                  <a:srgbClr val="1C2434"/>
                </a:solidFill>
              </a:defRPr>
            </a:pPr>
            <a:r>
              <a:t>Used frame skipping, classifier cooldown and efficient pipeline orchestration.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977639"/>
            <a:ext cx="539496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b="1" sz="2100">
                <a:solidFill>
                  <a:srgbClr val="0C254B"/>
                </a:solidFill>
              </a:defRPr>
            </a:pPr>
            <a:r>
              <a:t>Challenge 2</a:t>
            </a:r>
          </a:p>
          <a:p>
            <a:pPr>
              <a:defRPr sz="1700">
                <a:solidFill>
                  <a:srgbClr val="1C2434"/>
                </a:solidFill>
              </a:defRPr>
            </a:pPr>
            <a:r>
              <a:t>Temporal instability (flickering labels) in consecutive frames.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977639"/>
            <a:ext cx="534924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b="1" sz="2100">
                <a:solidFill>
                  <a:srgbClr val="0C254B"/>
                </a:solidFill>
              </a:defRPr>
            </a:pPr>
            <a:r>
              <a:t>Solution</a:t>
            </a:r>
          </a:p>
          <a:p>
            <a:pPr>
              <a:defRPr sz="1700">
                <a:solidFill>
                  <a:srgbClr val="1C2434"/>
                </a:solidFill>
              </a:defRPr>
            </a:pPr>
            <a:r>
              <a:t>Applied smoothing (EMA + voting) and confidence thresholds for robust alerts.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C254B"/>
                </a:solidFill>
              </a:defRPr>
            </a:pPr>
            <a:r>
              <a:t>System Design Practice (SDP) - Group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08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54B"/>
                </a:solidFill>
              </a:defRPr>
            </a:pPr>
            <a:r>
              <a:t>Future Scope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1847088"/>
            <a:ext cx="420624" cy="420624"/>
          </a:xfrm>
          <a:prstGeom prst="ellipse">
            <a:avLst/>
          </a:prstGeom>
          <a:solidFill>
            <a:srgbClr val="ED7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61872" y="1783080"/>
            <a:ext cx="1024128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sz="1800">
                <a:solidFill>
                  <a:srgbClr val="1C2434"/>
                </a:solidFill>
              </a:defRPr>
            </a:pPr>
            <a:r>
              <a:t>Multi-camera command center with centralized analytics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688336"/>
            <a:ext cx="420624" cy="420624"/>
          </a:xfrm>
          <a:prstGeom prst="ellipse">
            <a:avLst/>
          </a:prstGeom>
          <a:solidFill>
            <a:srgbClr val="ED7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61872" y="2624328"/>
            <a:ext cx="1024128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sz="1800">
                <a:solidFill>
                  <a:srgbClr val="1C2434"/>
                </a:solidFill>
              </a:defRPr>
            </a:pPr>
            <a:r>
              <a:t>Advanced suspicious behavior classes and custom datasets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3529584"/>
            <a:ext cx="420624" cy="420624"/>
          </a:xfrm>
          <a:prstGeom prst="ellipse">
            <a:avLst/>
          </a:prstGeom>
          <a:solidFill>
            <a:srgbClr val="ED7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61872" y="3465576"/>
            <a:ext cx="1024128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sz="1800">
                <a:solidFill>
                  <a:srgbClr val="1C2434"/>
                </a:solidFill>
              </a:defRPr>
            </a:pPr>
            <a:r>
              <a:t>Real-time alert push via SMS / Email / Mobile app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4370832"/>
            <a:ext cx="420624" cy="420624"/>
          </a:xfrm>
          <a:prstGeom prst="ellipse">
            <a:avLst/>
          </a:prstGeom>
          <a:solidFill>
            <a:srgbClr val="ED7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61872" y="4306824"/>
            <a:ext cx="1024128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sz="1800">
                <a:solidFill>
                  <a:srgbClr val="1C2434"/>
                </a:solidFill>
              </a:defRPr>
            </a:pPr>
            <a:r>
              <a:t>Scalable cloud deployment and role-based access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5212080"/>
            <a:ext cx="420624" cy="420624"/>
          </a:xfrm>
          <a:prstGeom prst="ellipse">
            <a:avLst/>
          </a:prstGeom>
          <a:solidFill>
            <a:srgbClr val="ED7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61872" y="5148072"/>
            <a:ext cx="1024128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sz="1800">
                <a:solidFill>
                  <a:srgbClr val="1C2434"/>
                </a:solidFill>
              </a:defRPr>
            </a:pPr>
            <a:r>
              <a:t>Edge/offline inference using optimized models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6053328"/>
            <a:ext cx="420624" cy="420624"/>
          </a:xfrm>
          <a:prstGeom prst="ellipse">
            <a:avLst/>
          </a:prstGeom>
          <a:solidFill>
            <a:srgbClr val="ED7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61872" y="5989320"/>
            <a:ext cx="1024128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sz="1800">
                <a:solidFill>
                  <a:srgbClr val="1C2434"/>
                </a:solidFill>
              </a:defRPr>
            </a:pPr>
            <a:r>
              <a:t>Integration with CCTV/NVR enterprise systems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C254B"/>
                </a:solidFill>
              </a:defRPr>
            </a:pPr>
            <a:r>
              <a:t>System Design Practice (SDP) - Group 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08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54B"/>
                </a:solidFill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828800"/>
            <a:ext cx="1042416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b="1" sz="2100">
                <a:solidFill>
                  <a:srgbClr val="0C254B"/>
                </a:solidFill>
              </a:defRPr>
            </a:pPr>
            <a:r>
              <a:t>Achievement</a:t>
            </a:r>
          </a:p>
          <a:p>
            <a:pPr>
              <a:defRPr sz="1800">
                <a:solidFill>
                  <a:srgbClr val="1C2434"/>
                </a:solidFill>
              </a:defRPr>
            </a:pPr>
            <a:r>
              <a:t>Built an end-to-end AI surveillance platform for suspicious activity detection.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3154680"/>
            <a:ext cx="1042416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b="1" sz="2100">
                <a:solidFill>
                  <a:srgbClr val="0C254B"/>
                </a:solidFill>
              </a:defRPr>
            </a:pPr>
            <a:r>
              <a:t>Integration</a:t>
            </a:r>
          </a:p>
          <a:p>
            <a:pPr>
              <a:defRPr sz="1800">
                <a:solidFill>
                  <a:srgbClr val="1C2434"/>
                </a:solidFill>
              </a:defRPr>
            </a:pPr>
            <a:r>
              <a:t>Unified real-time detection, classification, event logging and annotated recordings.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480560"/>
            <a:ext cx="1042416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b="1" sz="2100">
                <a:solidFill>
                  <a:srgbClr val="0C254B"/>
                </a:solidFill>
              </a:defRPr>
            </a:pPr>
            <a:r>
              <a:t>Impact</a:t>
            </a:r>
          </a:p>
          <a:p>
            <a:pPr>
              <a:defRPr sz="1800">
                <a:solidFill>
                  <a:srgbClr val="1C2434"/>
                </a:solidFill>
              </a:defRPr>
            </a:pPr>
            <a:r>
              <a:t>A practical, scalable safety solution for campus, office, and public surveillance use cases.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C254B"/>
                </a:solidFill>
              </a:defRPr>
            </a:pPr>
            <a:r>
              <a:t>System Design Practice (SDP) - Group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08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54B"/>
                </a:solidFill>
              </a:defRPr>
            </a:pPr>
            <a:r>
              <a:t>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1088136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sz="1600">
                <a:solidFill>
                  <a:srgbClr val="1C2434"/>
                </a:solidFill>
              </a:defRPr>
            </a:pPr>
            <a:r>
              <a:t>Ultralytics YOLOv8 official documentation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487168"/>
            <a:ext cx="1088136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sz="1600">
                <a:solidFill>
                  <a:srgbClr val="1C2434"/>
                </a:solidFill>
              </a:defRPr>
            </a:pPr>
            <a:r>
              <a:t>PyTorch and PyTorchVideo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191256"/>
            <a:ext cx="1088136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sz="1600">
                <a:solidFill>
                  <a:srgbClr val="1C2434"/>
                </a:solidFill>
              </a:defRPr>
            </a:pPr>
            <a:r>
              <a:t>SlowFast Networks paper (Feichtenhofer et al.)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895344"/>
            <a:ext cx="1088136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sz="1600">
                <a:solidFill>
                  <a:srgbClr val="1C2434"/>
                </a:solidFill>
              </a:defRPr>
            </a:pPr>
            <a:r>
              <a:t>Django REST Framework documentation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599431"/>
            <a:ext cx="1088136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76200"/>
          <a:lstStyle/>
          <a:p>
            <a:pPr algn="ctr">
              <a:defRPr sz="1600">
                <a:solidFill>
                  <a:srgbClr val="1C2434"/>
                </a:solidFill>
              </a:defRPr>
            </a:pPr>
            <a:r>
              <a:t>React, Vite, OpenCV and FFmpeg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6247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D7B34"/>
                </a:solidFill>
              </a:defRPr>
            </a:pPr>
            <a:r>
              <a:t>Thank You - Questions and 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C254B"/>
                </a:solidFill>
              </a:defRPr>
            </a:pPr>
            <a:r>
              <a:t>System Design Practice (SDP) - Group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